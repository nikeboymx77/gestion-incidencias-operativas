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_clean_modern_circular_logo_badge_style_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94360"/>
            <a:ext cx="74980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554480"/>
            <a:ext cx="3657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SGIO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49377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Sistema de Gestión de
Incidencias Operativas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10128"/>
            <a:ext cx="5120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ptos"/>
              </a:rPr>
              <a:t>Automatización, trazabilidad y control operativo
con apoyo de Inteligencia Artificial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370832"/>
            <a:ext cx="224028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379976"/>
            <a:ext cx="2240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DESARROLLO ASISTIDO POR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Cesar Chavez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053328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tos"/>
              </a:rPr>
              <a:t>Presentación ejecutiva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658368"/>
            <a:ext cx="5623560" cy="5440680"/>
          </a:xfrm>
          <a:prstGeom prst="roundRect">
            <a:avLst/>
          </a:prstGeom>
          <a:solidFill>
            <a:srgbClr val="2D3339"/>
          </a:solidFill>
          <a:ln w="10160">
            <a:solidFill>
              <a:srgbClr val="414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8dcf5a6-6be0-4d90-b4e2-c58c7292f0f3.png"/>
          <p:cNvPicPr>
            <a:picLocks noChangeAspect="1"/>
          </p:cNvPicPr>
          <p:nvPr/>
        </p:nvPicPr>
        <p:blipFill>
          <a:blip r:embed="rId3"/>
          <a:srcRect l="18709" r="18709"/>
          <a:stretch>
            <a:fillRect/>
          </a:stretch>
        </p:blipFill>
        <p:spPr>
          <a:xfrm>
            <a:off x="6126480" y="841248"/>
            <a:ext cx="52578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E5F96"/>
                </a:solidFill>
                <a:latin typeface="Aptos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9273B"/>
                </a:solidFill>
                <a:latin typeface="Aptos"/>
              </a:rPr>
              <a:t>El reto operativo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Centralizar un proceso que involucra correo, asignación, seguimiento y atención por parte del equipo.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07492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05740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66543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37490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9273B"/>
                </a:solidFill>
                <a:latin typeface="Aptos"/>
              </a:rPr>
              <a:t>Entrada dispersa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404872"/>
            <a:ext cx="3794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Las incidencias llegan por correo y requieren identificación y seguimiento.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83080"/>
            <a:ext cx="507492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205740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66543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011680"/>
            <a:ext cx="37490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9273B"/>
                </a:solidFill>
                <a:latin typeface="Aptos"/>
              </a:rPr>
              <a:t>Asignación del equipo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404872"/>
            <a:ext cx="3794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Es necesario considerar disponibilidad, días laborales y ausencias.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507492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023359"/>
            <a:ext cx="566928" cy="566928"/>
          </a:xfrm>
          <a:prstGeom prst="ellipse">
            <a:avLst/>
          </a:prstGeom>
          <a:solidFill>
            <a:srgbClr val="1E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32503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977639"/>
            <a:ext cx="37490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9273B"/>
                </a:solidFill>
                <a:latin typeface="Aptos"/>
              </a:rPr>
              <a:t>Seguimiento operativo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70831"/>
            <a:ext cx="3794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El estado de cada incidencia debe ser visible y trazable durante todo su ciclo.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07492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4023359"/>
            <a:ext cx="566928" cy="566928"/>
          </a:xfrm>
          <a:prstGeom prst="ellipse">
            <a:avLst/>
          </a:prstGeom>
          <a:solidFill>
            <a:srgbClr val="1E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032503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977639"/>
            <a:ext cx="37490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9273B"/>
                </a:solidFill>
                <a:latin typeface="Aptos"/>
              </a:rPr>
              <a:t>Medición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370831"/>
            <a:ext cx="3794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Se necesita información consolidada para conocer carga, tiempos, tendencias y antigüedad.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SGIO  •  Sistema de Gestión de Incidencias Operativas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B6C8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E5F96"/>
                </a:solidFill>
                <a:latin typeface="Aptos"/>
              </a:rPr>
              <a:t>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9273B"/>
                </a:solidFill>
                <a:latin typeface="Aptos"/>
              </a:rPr>
              <a:t>Flujo automatizado de punta a punta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SGIO transforma la llegada de una incidencia en un proceso asignado, visible y operable.</a:t>
            </a:r>
          </a:p>
        </p:txBody>
      </p:sp>
      <p:sp>
        <p:nvSpPr>
          <p:cNvPr id="6" name="Oval 5"/>
          <p:cNvSpPr/>
          <p:nvPr/>
        </p:nvSpPr>
        <p:spPr>
          <a:xfrm>
            <a:off x="941832" y="2057400"/>
            <a:ext cx="566928" cy="566928"/>
          </a:xfrm>
          <a:prstGeom prst="ellipse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066543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14447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73B"/>
                </a:solidFill>
                <a:latin typeface="Aptos"/>
              </a:rPr>
              <a:t>Correo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81528"/>
            <a:ext cx="14447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B6C82"/>
                </a:solidFill>
                <a:latin typeface="Aptos"/>
              </a:rPr>
              <a:t>Entrada de la incidencia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157984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2862072" y="205740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2" y="2066543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743200"/>
            <a:ext cx="14447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73B"/>
                </a:solidFill>
                <a:latin typeface="Aptos"/>
              </a:rPr>
              <a:t>SGIO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3081528"/>
            <a:ext cx="14447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B6C82"/>
                </a:solidFill>
                <a:latin typeface="Aptos"/>
              </a:rPr>
              <a:t>Extracción y registro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157984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4782312" y="2057400"/>
            <a:ext cx="566928" cy="566928"/>
          </a:xfrm>
          <a:prstGeom prst="ellipse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82312" y="2066543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743200"/>
            <a:ext cx="14447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73B"/>
                </a:solidFill>
                <a:latin typeface="Aptos"/>
              </a:rPr>
              <a:t>Asignación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081528"/>
            <a:ext cx="14447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B6C82"/>
                </a:solidFill>
                <a:latin typeface="Aptos"/>
              </a:rPr>
              <a:t>Reglas de disponibilidad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2157984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6702552" y="205740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2552" y="2066543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743200"/>
            <a:ext cx="14447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73B"/>
                </a:solidFill>
                <a:latin typeface="Aptos"/>
              </a:rPr>
              <a:t>Telegram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081528"/>
            <a:ext cx="14447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B6C82"/>
                </a:solidFill>
                <a:latin typeface="Aptos"/>
              </a:rPr>
              <a:t>Notificación al equipo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157984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8622792" y="2057400"/>
            <a:ext cx="566928" cy="566928"/>
          </a:xfrm>
          <a:prstGeom prst="ellipse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22792" y="2066543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2743200"/>
            <a:ext cx="14447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73B"/>
                </a:solidFill>
                <a:latin typeface="Aptos"/>
              </a:rPr>
              <a:t>Atención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3081528"/>
            <a:ext cx="14447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B6C82"/>
                </a:solidFill>
                <a:latin typeface="Aptos"/>
              </a:rPr>
              <a:t>Tomar / reasignar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157984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31" name="Oval 30"/>
          <p:cNvSpPr/>
          <p:nvPr/>
        </p:nvSpPr>
        <p:spPr>
          <a:xfrm>
            <a:off x="10543032" y="2057400"/>
            <a:ext cx="566928" cy="566928"/>
          </a:xfrm>
          <a:prstGeom prst="ellipse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43032" y="2066543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2743200"/>
            <a:ext cx="14447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9273B"/>
                </a:solidFill>
                <a:latin typeface="Aptos"/>
              </a:rPr>
              <a:t>Resolución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3081528"/>
            <a:ext cx="14447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B6C82"/>
                </a:solidFill>
                <a:latin typeface="Aptos"/>
              </a:rPr>
              <a:t>Cierre y trazabilidad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160520"/>
            <a:ext cx="10789920" cy="1188720"/>
          </a:xfrm>
          <a:prstGeom prst="roundRect">
            <a:avLst/>
          </a:prstGeom>
          <a:solidFill>
            <a:srgbClr val="ECF4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4407408"/>
            <a:ext cx="1143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E5F96"/>
                </a:solidFill>
                <a:latin typeface="Aptos"/>
              </a:rPr>
              <a:t>Resultado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4325112"/>
            <a:ext cx="8869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02744"/>
                </a:solidFill>
                <a:latin typeface="Aptos"/>
              </a:rPr>
              <a:t>Una sola fuente de información para operación, seguimiento y métricas.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SGIO  •  Sistema de Gestión de Incidencias Operativas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B6C8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E5F96"/>
                </a:solidFill>
                <a:latin typeface="Aptos"/>
              </a:rPr>
              <a:t>VISIBILIDAD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9273B"/>
                </a:solidFill>
                <a:latin typeface="Aptos"/>
              </a:rPr>
              <a:t>Dashboard operativo centralizado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Estado actual, actividad reciente y filtros de consulta en un único punto.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758952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8dcf5a6-6be0-4d90-b4e2-c58c7292f0f3.png"/>
          <p:cNvPicPr>
            <a:picLocks noChangeAspect="1"/>
          </p:cNvPicPr>
          <p:nvPr/>
        </p:nvPicPr>
        <p:blipFill>
          <a:blip r:embed="rId2"/>
          <a:srcRect t="2166" b="2166"/>
          <a:stretch>
            <a:fillRect/>
          </a:stretch>
        </p:blipFill>
        <p:spPr>
          <a:xfrm>
            <a:off x="749808" y="1755648"/>
            <a:ext cx="7278624" cy="4206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58200" y="1783080"/>
            <a:ext cx="310896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58200" y="178308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68512" y="1892807"/>
            <a:ext cx="2606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9273B"/>
                </a:solidFill>
                <a:latin typeface="Aptos"/>
              </a:rPr>
              <a:t>510 incidencias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8512" y="2148840"/>
            <a:ext cx="2606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Volumen registrado visible en el dashboard.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2788920"/>
            <a:ext cx="310896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58200" y="2788920"/>
            <a:ext cx="73152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68512" y="2898648"/>
            <a:ext cx="2606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9273B"/>
                </a:solidFill>
                <a:latin typeface="Aptos"/>
              </a:rPr>
              <a:t>Estados operativos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3154679"/>
            <a:ext cx="2606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Pendientes, en proceso, resueltas, reabiertas y canceladas.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4069080"/>
            <a:ext cx="310896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58200" y="4069080"/>
            <a:ext cx="73152" cy="868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4178808"/>
            <a:ext cx="2606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9273B"/>
                </a:solidFill>
                <a:latin typeface="Aptos"/>
              </a:rPr>
              <a:t>Consulta flexible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4434840"/>
            <a:ext cx="2606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Filtros por estado, empleado, prioridad, origen y fechas.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SGIO  •  Sistema de Gestión de Incidencias Operativas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B6C8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E5F96"/>
                </a:solidFill>
                <a:latin typeface="Aptos"/>
              </a:rPr>
              <a:t>TRAZABILIDAD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9273B"/>
                </a:solidFill>
                <a:latin typeface="Aptos"/>
              </a:rPr>
              <a:t>Cada incidencia conserva su contexto y su historia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El detalle reúne información operativa, origen, acciones y seguimiento.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699516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97a1b0f-0724-4545-9e32-b7f475f439e8.png"/>
          <p:cNvPicPr>
            <a:picLocks noChangeAspect="1"/>
          </p:cNvPicPr>
          <p:nvPr/>
        </p:nvPicPr>
        <p:blipFill>
          <a:blip r:embed="rId2"/>
          <a:srcRect l="1845" r="1845"/>
          <a:stretch>
            <a:fillRect/>
          </a:stretch>
        </p:blipFill>
        <p:spPr>
          <a:xfrm>
            <a:off x="749808" y="1737360"/>
            <a:ext cx="6684264" cy="429768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001000" y="178308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792224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691640"/>
            <a:ext cx="2606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9273B"/>
                </a:solidFill>
                <a:latin typeface="Aptos"/>
              </a:rPr>
              <a:t>Responsable y estado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002536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Asignado, prioridad y fecha de registro.</a:t>
            </a:r>
          </a:p>
        </p:txBody>
      </p:sp>
      <p:sp>
        <p:nvSpPr>
          <p:cNvPr id="12" name="Oval 11"/>
          <p:cNvSpPr/>
          <p:nvPr/>
        </p:nvSpPr>
        <p:spPr>
          <a:xfrm>
            <a:off x="8001000" y="2816352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2825496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724912"/>
            <a:ext cx="2606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9273B"/>
                </a:solidFill>
                <a:latin typeface="Aptos"/>
              </a:rPr>
              <a:t>Acciones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3035808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Tomar, reasignar o cancelar desde la misma vista.</a:t>
            </a:r>
          </a:p>
        </p:txBody>
      </p:sp>
      <p:sp>
        <p:nvSpPr>
          <p:cNvPr id="16" name="Oval 15"/>
          <p:cNvSpPr/>
          <p:nvPr/>
        </p:nvSpPr>
        <p:spPr>
          <a:xfrm>
            <a:off x="8001000" y="3849623"/>
            <a:ext cx="566928" cy="5669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3858767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3758183"/>
            <a:ext cx="2606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9273B"/>
                </a:solidFill>
                <a:latin typeface="Aptos"/>
              </a:rPr>
              <a:t>Origen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4069079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Información del correo y descripción completa.</a:t>
            </a:r>
          </a:p>
        </p:txBody>
      </p:sp>
      <p:sp>
        <p:nvSpPr>
          <p:cNvPr id="20" name="Oval 19"/>
          <p:cNvSpPr/>
          <p:nvPr/>
        </p:nvSpPr>
        <p:spPr>
          <a:xfrm>
            <a:off x="8001000" y="488289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4892040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4791456"/>
            <a:ext cx="2606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9273B"/>
                </a:solidFill>
                <a:latin typeface="Aptos"/>
              </a:rPr>
              <a:t>Historial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5102352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Trazabilidad del ciclo de atención.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SGIO  •  Sistema de Gestión de Incidencias Operativas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B6C8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E5F96"/>
                </a:solidFill>
                <a:latin typeface="Aptos"/>
              </a:rPr>
              <a:t>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9273B"/>
                </a:solidFill>
                <a:latin typeface="Aptos"/>
              </a:rPr>
              <a:t>Asignación basada en disponibilidad y carga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La lógica de asignación utiliza reglas operativas del equipo, no una selección al azar.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553212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27648" y="1572768"/>
            <a:ext cx="525780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c9ea9a7-4285-4efe-9c08-b86a7ca09cc0.png"/>
          <p:cNvPicPr>
            <a:picLocks noChangeAspect="1"/>
          </p:cNvPicPr>
          <p:nvPr/>
        </p:nvPicPr>
        <p:blipFill>
          <a:blip r:embed="rId2"/>
          <a:srcRect l="2200" r="2200"/>
          <a:stretch>
            <a:fillRect/>
          </a:stretch>
        </p:blipFill>
        <p:spPr>
          <a:xfrm>
            <a:off x="749808" y="1737360"/>
            <a:ext cx="5221224" cy="4023360"/>
          </a:xfrm>
          <a:prstGeom prst="rect">
            <a:avLst/>
          </a:prstGeom>
        </p:spPr>
      </p:pic>
      <p:pic>
        <p:nvPicPr>
          <p:cNvPr id="9" name="Picture 8" descr="055e30e4-7a10-4e15-a010-a30e0c75b16c.png"/>
          <p:cNvPicPr>
            <a:picLocks noChangeAspect="1"/>
          </p:cNvPicPr>
          <p:nvPr/>
        </p:nvPicPr>
        <p:blipFill>
          <a:blip r:embed="rId3"/>
          <a:srcRect l="7941" r="7941"/>
          <a:stretch>
            <a:fillRect/>
          </a:stretch>
        </p:blipFill>
        <p:spPr>
          <a:xfrm>
            <a:off x="6483096" y="1737360"/>
            <a:ext cx="4946904" cy="40233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14400" y="5321808"/>
            <a:ext cx="150876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30952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CARGA DEL EQUIPO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5321808"/>
            <a:ext cx="1600200" cy="32918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5330952"/>
            <a:ext cx="1600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DÍAS LABORALES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5321808"/>
            <a:ext cx="1234440" cy="32918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5330952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AUSENCIAS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5321808"/>
            <a:ext cx="1508760" cy="32918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5330952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ÚLTIMA ASIGNACIÓN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SGIO  •  Sistema de Gestión de Incidencias Operativas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B6C8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E5F96"/>
                </a:solidFill>
                <a:latin typeface="Aptos"/>
              </a:rPr>
              <a:t>MEDICIÓN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9273B"/>
                </a:solidFill>
                <a:latin typeface="Aptos"/>
              </a:rPr>
              <a:t>Reportes para tomar decisiones con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El módulo consolida indicadores, comparativos, tendencias, carga y tiempos operativos.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475488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69e9ee8-7000-49f3-81c4-b3d467c0ca3e.png"/>
          <p:cNvPicPr>
            <a:picLocks noChangeAspect="1"/>
          </p:cNvPicPr>
          <p:nvPr/>
        </p:nvPicPr>
        <p:blipFill>
          <a:blip r:embed="rId2"/>
          <a:srcRect l="17423" r="17423"/>
          <a:stretch>
            <a:fillRect/>
          </a:stretch>
        </p:blipFill>
        <p:spPr>
          <a:xfrm>
            <a:off x="749808" y="1737360"/>
            <a:ext cx="4443984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691640"/>
            <a:ext cx="26060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24728" y="1892808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Aptos"/>
              </a:rPr>
              <a:t>365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4728" y="2313432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9273B"/>
                </a:solidFill>
                <a:latin typeface="Aptos"/>
              </a:rPr>
              <a:t>incidencias analizadas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4728" y="2633472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Periodo mostrado: agosto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1691640"/>
            <a:ext cx="26060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05088" y="1892808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Aptos"/>
              </a:rPr>
              <a:t>95.3%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8" y="2313432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9273B"/>
                </a:solidFill>
                <a:latin typeface="Aptos"/>
              </a:rPr>
              <a:t>resolución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5088" y="2633472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Indicador del periodo seleccionado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3520440"/>
            <a:ext cx="26060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4728" y="3721608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Aptos"/>
              </a:rPr>
              <a:t>22 h 15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24728" y="4142232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9273B"/>
                </a:solidFill>
                <a:latin typeface="Aptos"/>
              </a:rPr>
              <a:t>atención promedio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4728" y="4462272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Desde creación hasta toma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3520440"/>
            <a:ext cx="260604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05088" y="3721608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Aptos"/>
              </a:rPr>
              <a:t>1 d 23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4142232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9273B"/>
                </a:solidFill>
                <a:latin typeface="Aptos"/>
              </a:rPr>
              <a:t>resolución promedio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4462272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Desde creación hasta cierre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0992" y="5468112"/>
            <a:ext cx="5486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B6C82"/>
                </a:solidFill>
                <a:latin typeface="Aptos"/>
              </a:rPr>
              <a:t>También incluye: comparación contra periodo anterior • exportación a Excel • desempeño por empleado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SGIO  •  Sistema de Gestión de Incidencias Operativas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B6C8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E5F96"/>
                </a:solidFill>
                <a:latin typeface="Aptos"/>
              </a:rPr>
              <a:t>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9273B"/>
                </a:solidFill>
                <a:latin typeface="Aptos"/>
              </a:rPr>
              <a:t>Tendencias, carga y atención requerida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Reportes V2 permite detectar comportamiento, concentración de carga y casos que requieren atención.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553212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27648" y="1572768"/>
            <a:ext cx="525780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3822191"/>
            <a:ext cx="553212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27648" y="3822191"/>
            <a:ext cx="525780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e6e9133-fe75-4029-8de6-0714f2e7d999.png"/>
          <p:cNvPicPr>
            <a:picLocks noChangeAspect="1"/>
          </p:cNvPicPr>
          <p:nvPr/>
        </p:nvPicPr>
        <p:blipFill>
          <a:blip r:embed="rId2"/>
          <a:srcRect t="25261" b="25261"/>
          <a:stretch>
            <a:fillRect/>
          </a:stretch>
        </p:blipFill>
        <p:spPr>
          <a:xfrm>
            <a:off x="749808" y="1728216"/>
            <a:ext cx="5221224" cy="1746504"/>
          </a:xfrm>
          <a:prstGeom prst="rect">
            <a:avLst/>
          </a:prstGeom>
        </p:spPr>
      </p:pic>
      <p:pic>
        <p:nvPicPr>
          <p:cNvPr id="11" name="Picture 10" descr="763098f5-7459-4ab9-a5a2-05c86177fe01.png"/>
          <p:cNvPicPr>
            <a:picLocks noChangeAspect="1"/>
          </p:cNvPicPr>
          <p:nvPr/>
        </p:nvPicPr>
        <p:blipFill>
          <a:blip r:embed="rId3"/>
          <a:srcRect t="27268" b="27268"/>
          <a:stretch>
            <a:fillRect/>
          </a:stretch>
        </p:blipFill>
        <p:spPr>
          <a:xfrm>
            <a:off x="749808" y="3977639"/>
            <a:ext cx="5221224" cy="1746504"/>
          </a:xfrm>
          <a:prstGeom prst="rect">
            <a:avLst/>
          </a:prstGeom>
        </p:spPr>
      </p:pic>
      <p:pic>
        <p:nvPicPr>
          <p:cNvPr id="12" name="Picture 11" descr="f77585fa-5d51-4f5e-9f71-526d5e7f2768.png"/>
          <p:cNvPicPr>
            <a:picLocks noChangeAspect="1"/>
          </p:cNvPicPr>
          <p:nvPr/>
        </p:nvPicPr>
        <p:blipFill>
          <a:blip r:embed="rId4"/>
          <a:srcRect t="24853" b="24853"/>
          <a:stretch>
            <a:fillRect/>
          </a:stretch>
        </p:blipFill>
        <p:spPr>
          <a:xfrm>
            <a:off x="6483096" y="3977639"/>
            <a:ext cx="4946904" cy="1746504"/>
          </a:xfrm>
          <a:prstGeom prst="rect">
            <a:avLst/>
          </a:prstGeom>
        </p:spPr>
      </p:pic>
      <p:pic>
        <p:nvPicPr>
          <p:cNvPr id="13" name="Picture 12" descr="1e6e9133-fe75-4029-8de6-0714f2e7d999.png"/>
          <p:cNvPicPr>
            <a:picLocks noChangeAspect="1"/>
          </p:cNvPicPr>
          <p:nvPr/>
        </p:nvPicPr>
        <p:blipFill>
          <a:blip r:embed="rId2"/>
          <a:srcRect t="23889" b="23889"/>
          <a:stretch>
            <a:fillRect/>
          </a:stretch>
        </p:blipFill>
        <p:spPr>
          <a:xfrm>
            <a:off x="6483096" y="1728216"/>
            <a:ext cx="4946904" cy="17465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SGIO  •  Sistema de Gestión de Incidencias Operativas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B6C8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E5F96"/>
                </a:solidFill>
                <a:latin typeface="Aptos"/>
              </a:rPr>
              <a:t>OPERACIÓN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9273B"/>
                </a:solidFill>
                <a:latin typeface="Aptos"/>
              </a:rPr>
              <a:t>Telegram como interfaz operativa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El bot notifica nuevas incidencias y permite ejecutar acciones de seguimiento sin perder sincronización con SGIO.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6583680" cy="4526280"/>
          </a:xfrm>
          <a:prstGeom prst="roundRect">
            <a:avLst/>
          </a:prstGeom>
          <a:solidFill>
            <a:srgbClr val="1F2429"/>
          </a:solidFill>
          <a:ln w="10160"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fa2aa3-ece3-4752-b63f-f693fb95976c.png"/>
          <p:cNvPicPr>
            <a:picLocks noChangeAspect="1"/>
          </p:cNvPicPr>
          <p:nvPr/>
        </p:nvPicPr>
        <p:blipFill>
          <a:blip r:embed="rId2"/>
          <a:srcRect t="8570" b="8570"/>
          <a:stretch>
            <a:fillRect/>
          </a:stretch>
        </p:blipFill>
        <p:spPr>
          <a:xfrm>
            <a:off x="749808" y="1728216"/>
            <a:ext cx="6272784" cy="42153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52360" y="1572768"/>
            <a:ext cx="4114800" cy="2148840"/>
          </a:xfrm>
          <a:prstGeom prst="roundRect">
            <a:avLst/>
          </a:prstGeom>
          <a:solidFill>
            <a:srgbClr val="1F2429"/>
          </a:solidFill>
          <a:ln w="10160"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adcd8d1-6324-4858-9dae-6610c84b4dcf.png"/>
          <p:cNvPicPr>
            <a:picLocks noChangeAspect="1"/>
          </p:cNvPicPr>
          <p:nvPr/>
        </p:nvPicPr>
        <p:blipFill>
          <a:blip r:embed="rId3"/>
          <a:srcRect t="24138" b="24138"/>
          <a:stretch>
            <a:fillRect/>
          </a:stretch>
        </p:blipFill>
        <p:spPr>
          <a:xfrm>
            <a:off x="7607808" y="1728216"/>
            <a:ext cx="3803904" cy="183794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79" y="4160520"/>
            <a:ext cx="914400" cy="329184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4169663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NUEVA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85632" y="4160520"/>
            <a:ext cx="91440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4169663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TOMAR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73184" y="4160520"/>
            <a:ext cx="914400" cy="32918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73184" y="4169663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EN PROCESO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60736" y="4160520"/>
            <a:ext cx="914400" cy="32918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60736" y="4169663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RESOLVER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709160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9273B"/>
                </a:solidFill>
                <a:latin typeface="Aptos"/>
              </a:rPr>
              <a:t>Comandos operativos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5047488"/>
            <a:ext cx="3657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B6C82"/>
                </a:solidFill>
                <a:latin typeface="Aptos"/>
              </a:rPr>
              <a:t>/tomar  •  /resuelto  •  /reasignar  •  /cancelar
/estado  •  /mis_pendientes  •  /ranking  •  /atrasadas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SGIO  •  Sistema de Gestión de Incidencias Operativas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B6C8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E5F96"/>
                </a:solidFill>
                <a:latin typeface="Aptos"/>
              </a:rPr>
              <a:t>INTELIGENCIA ARTIFICIAL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9273B"/>
                </a:solidFill>
                <a:latin typeface="Aptos"/>
              </a:rPr>
              <a:t>IA como acelerador del desarrollo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La IA se utilizó como herramienta de apoyo; las decisiones, validación y responsabilidad técnica permanecieron en el desarrollador.</a:t>
            </a:r>
          </a:p>
        </p:txBody>
      </p:sp>
      <p:sp>
        <p:nvSpPr>
          <p:cNvPr id="6" name="Oval 5"/>
          <p:cNvSpPr/>
          <p:nvPr/>
        </p:nvSpPr>
        <p:spPr>
          <a:xfrm>
            <a:off x="1216152" y="1755648"/>
            <a:ext cx="566928" cy="566928"/>
          </a:xfrm>
          <a:prstGeom prst="ellipse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6152" y="1764792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162763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73B"/>
                </a:solidFill>
                <a:latin typeface="Aptos"/>
              </a:rPr>
              <a:t>Necesidad
del negocio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4872" y="1883664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3483864" y="1755648"/>
            <a:ext cx="566928" cy="566928"/>
          </a:xfrm>
          <a:prstGeom prst="ellipse">
            <a:avLst/>
          </a:prstGeom>
          <a:solidFill>
            <a:srgbClr val="1E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83864" y="1764792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2423160"/>
            <a:ext cx="162763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73B"/>
                </a:solidFill>
                <a:latin typeface="Aptos"/>
              </a:rPr>
              <a:t>Criterio del
desarrollador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3" y="1883664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5751576" y="17556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51576" y="1764792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2423160"/>
            <a:ext cx="162763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73B"/>
                </a:solidFill>
                <a:latin typeface="Aptos"/>
              </a:rPr>
              <a:t>Apoyo
de 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0296" y="1883664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8019288" y="1755648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9288" y="1764792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8936" y="2423160"/>
            <a:ext cx="162763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73B"/>
                </a:solidFill>
                <a:latin typeface="Aptos"/>
              </a:rPr>
              <a:t>Pruebas y
validación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1883664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10287000" y="1755648"/>
            <a:ext cx="566928" cy="5669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7000" y="1764792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648" y="2423160"/>
            <a:ext cx="162763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9273B"/>
                </a:solidFill>
                <a:latin typeface="Aptos"/>
              </a:rPr>
              <a:t>Implementación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429000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3538728"/>
            <a:ext cx="4663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9273B"/>
                </a:solidFill>
                <a:latin typeface="Aptos"/>
              </a:rPr>
              <a:t>Menor tiempo de desarrollo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3822191"/>
            <a:ext cx="4617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Acelera exploración de alternativas, estructuras iniciales y resolución de bloqueos.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429000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7" y="3538728"/>
            <a:ext cx="4663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9273B"/>
                </a:solidFill>
                <a:latin typeface="Aptos"/>
              </a:rPr>
              <a:t>Código más limpio y mantenible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7" y="3822191"/>
            <a:ext cx="4617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Apoyo en refactorización, separación de responsabilidades y consistencia.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572000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4681728"/>
            <a:ext cx="4663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9273B"/>
                </a:solidFill>
                <a:latin typeface="Aptos"/>
              </a:rPr>
              <a:t>Depuración más rápida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4965192"/>
            <a:ext cx="4617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Análisis de errores, logs y propuestas de solución para validar.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572000"/>
            <a:ext cx="516636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7" y="4681728"/>
            <a:ext cx="4663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9273B"/>
                </a:solidFill>
                <a:latin typeface="Aptos"/>
              </a:rPr>
              <a:t>Desarrollo incremental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7" y="4965192"/>
            <a:ext cx="4617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Implementar → probar → corregir → continuar con ciclos más cortos.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870448"/>
            <a:ext cx="10835640" cy="438912"/>
          </a:xfrm>
          <a:prstGeom prst="roundRect">
            <a:avLst/>
          </a:prstGeom>
          <a:solidFill>
            <a:srgbClr val="ECF4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934456"/>
            <a:ext cx="10332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02744"/>
                </a:solidFill>
                <a:latin typeface="Aptos"/>
              </a:rPr>
              <a:t>IA = acelerador técnico, no sustituto del conocimiento ni de la validación del desarrollador.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SGIO  •  Sistema de Gestión de Incidencias Operativas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B6C8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1E5F96"/>
                </a:solidFill>
                <a:latin typeface="Aptos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9273B"/>
                </a:solidFill>
                <a:latin typeface="Aptos"/>
              </a:rPr>
              <a:t>Una base lista para seguir evolucionando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82"/>
                </a:solidFill>
                <a:latin typeface="Aptos"/>
              </a:rPr>
              <a:t>SGIO ya integra automatización, operación y medición; los siguientes pasos fortalecen seguridad e inteligencia.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507492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9273B"/>
                </a:solidFill>
                <a:latin typeface="Aptos"/>
              </a:rPr>
              <a:t>Arquitectura actual</a:t>
            </a:r>
          </a:p>
        </p:txBody>
      </p:sp>
      <p:sp>
        <p:nvSpPr>
          <p:cNvPr id="8" name="Oval 7"/>
          <p:cNvSpPr/>
          <p:nvPr/>
        </p:nvSpPr>
        <p:spPr>
          <a:xfrm>
            <a:off x="896112" y="2295144"/>
            <a:ext cx="566928" cy="566928"/>
          </a:xfrm>
          <a:prstGeom prst="ellipse">
            <a:avLst/>
          </a:prstGeom>
          <a:solidFill>
            <a:srgbClr val="1E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04287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286000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9273B"/>
                </a:solidFill>
                <a:latin typeface="Aptos"/>
              </a:rPr>
              <a:t>Spring Boot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86000"/>
            <a:ext cx="2148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Backend y reglas de negocio</a:t>
            </a:r>
          </a:p>
        </p:txBody>
      </p:sp>
      <p:sp>
        <p:nvSpPr>
          <p:cNvPr id="12" name="Oval 11"/>
          <p:cNvSpPr/>
          <p:nvPr/>
        </p:nvSpPr>
        <p:spPr>
          <a:xfrm>
            <a:off x="896112" y="2935224"/>
            <a:ext cx="566928" cy="566928"/>
          </a:xfrm>
          <a:prstGeom prst="ellipse">
            <a:avLst/>
          </a:prstGeom>
          <a:solidFill>
            <a:srgbClr val="1E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944368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926080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9273B"/>
                </a:solidFill>
                <a:latin typeface="Aptos"/>
              </a:rPr>
              <a:t>MySQL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926080"/>
            <a:ext cx="2148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Persistencia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3575303"/>
            <a:ext cx="566928" cy="566928"/>
          </a:xfrm>
          <a:prstGeom prst="ellipse">
            <a:avLst/>
          </a:prstGeom>
          <a:solidFill>
            <a:srgbClr val="1E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584447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566160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9273B"/>
                </a:solidFill>
                <a:latin typeface="Aptos"/>
              </a:rPr>
              <a:t>Thymeleaf + 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566160"/>
            <a:ext cx="2148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Interfaz web</a:t>
            </a:r>
          </a:p>
        </p:txBody>
      </p:sp>
      <p:sp>
        <p:nvSpPr>
          <p:cNvPr id="20" name="Oval 19"/>
          <p:cNvSpPr/>
          <p:nvPr/>
        </p:nvSpPr>
        <p:spPr>
          <a:xfrm>
            <a:off x="896112" y="4215383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224527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206240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9273B"/>
                </a:solidFill>
                <a:latin typeface="Aptos"/>
              </a:rPr>
              <a:t>Python + Telegram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206240"/>
            <a:ext cx="2148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Operación y notificaciones</a:t>
            </a:r>
          </a:p>
        </p:txBody>
      </p:sp>
      <p:sp>
        <p:nvSpPr>
          <p:cNvPr id="24" name="Oval 23"/>
          <p:cNvSpPr/>
          <p:nvPr/>
        </p:nvSpPr>
        <p:spPr>
          <a:xfrm>
            <a:off x="896112" y="4855464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864607"/>
            <a:ext cx="5669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4846320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9273B"/>
                </a:solidFill>
                <a:latin typeface="Aptos"/>
              </a:rPr>
              <a:t>Correo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846320"/>
            <a:ext cx="2148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B6C82"/>
                </a:solidFill>
                <a:latin typeface="Aptos"/>
              </a:rPr>
              <a:t>Origen automatizado de incidencias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1572768"/>
            <a:ext cx="562356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1810512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9273B"/>
                </a:solidFill>
                <a:latin typeface="Aptos"/>
              </a:rPr>
              <a:t>Roadmap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2286000"/>
            <a:ext cx="1078992" cy="32918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6208" y="2295144"/>
            <a:ext cx="10789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COMPLETO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2276856"/>
            <a:ext cx="3611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9273B"/>
                </a:solidFill>
                <a:latin typeface="Aptos"/>
              </a:rPr>
              <a:t>Reportes V2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8" y="2944368"/>
            <a:ext cx="1078992" cy="32918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6208" y="2953511"/>
            <a:ext cx="10789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COMPLETO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9792" y="2935224"/>
            <a:ext cx="3611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9273B"/>
                </a:solidFill>
                <a:latin typeface="Aptos"/>
              </a:rPr>
              <a:t>Tema claro / oscuro / sistema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36208" y="3602736"/>
            <a:ext cx="1078992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36208" y="3611879"/>
            <a:ext cx="10789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SIGUIENTE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79792" y="3593592"/>
            <a:ext cx="3611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9273B"/>
                </a:solidFill>
                <a:latin typeface="Aptos"/>
              </a:rPr>
              <a:t>Seguridad, usuarios y roles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36208" y="4261104"/>
            <a:ext cx="1078992" cy="32918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4270248"/>
            <a:ext cx="10789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EVOLUCIÓN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9792" y="4251960"/>
            <a:ext cx="3611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9273B"/>
                </a:solidFill>
                <a:latin typeface="Aptos"/>
              </a:rPr>
              <a:t>Capacidades con IA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36208" y="4919472"/>
            <a:ext cx="1078992" cy="32918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36208" y="4928616"/>
            <a:ext cx="10789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OPCIONAL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79792" y="4910328"/>
            <a:ext cx="3611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9273B"/>
                </a:solidFill>
                <a:latin typeface="Aptos"/>
              </a:rPr>
              <a:t>Respuesta automática de cierre / SLA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8" y="557784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02744"/>
                </a:solidFill>
                <a:latin typeface="Aptos"/>
              </a:rPr>
              <a:t>SGIO convierte un flujo operativo disperso en un proceso automatizado, trazable y medible.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510528"/>
            <a:ext cx="7498079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B6C82"/>
                </a:solidFill>
                <a:latin typeface="Aptos"/>
              </a:rPr>
              <a:t>SGIO  •  Sistema de Gestión de Incidencias Operativas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B6C8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