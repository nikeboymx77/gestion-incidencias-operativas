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_clean_modern_circular_logo_badge_style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554480"/>
            <a:ext cx="3657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4937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Sistema de Gestión de
Incidencias Operativas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Automatización, trazabilidad y control operativo
con apoyo de Inteligencia Artificial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70832"/>
            <a:ext cx="22402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379976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DESARROLLO ASISTIDO POR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Cesar Chavez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53328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Presentación ejecutiva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658368"/>
            <a:ext cx="5623560" cy="5440680"/>
          </a:xfrm>
          <a:prstGeom prst="roundRect">
            <a:avLst/>
          </a:prstGeom>
          <a:solidFill>
            <a:srgbClr val="2D3339"/>
          </a:solidFill>
          <a:ln w="10160">
            <a:solidFill>
              <a:srgbClr val="41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d8dcf5a6-6be0-4d90-b4e2-c58c7292f0f3.png"/>
          <p:cNvPicPr>
            <a:picLocks noChangeAspect="1"/>
          </p:cNvPicPr>
          <p:nvPr/>
        </p:nvPicPr>
        <p:blipFill>
          <a:blip r:embed="rId3"/>
          <a:srcRect l="18709" r="18709"/>
          <a:stretch>
            <a:fillRect/>
          </a:stretch>
        </p:blipFill>
        <p:spPr>
          <a:xfrm>
            <a:off x="6126480" y="841248"/>
            <a:ext cx="52578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El reto operativo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Centralizar un proceso que involucra correo, asignación, seguimiento y atención por parte del equipo.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Entrada dispersa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04872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Las incidencias llegan por correo y requieren identificación y seguimiento.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46520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11680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Asignación del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404872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Es necesario considerar disponibilidad, días laborales y ausencias.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4023359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03250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77639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Seguimiento operativo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70831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estado de cada incidencia debe ser visible y trazable durante todo su ciclo.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46520" y="4023359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03250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977639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Medición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70831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Se necesita información consolidada para conocer carga, tiempos, tendencias y antigüedad.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Flujo automatizado de punta a punta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SGIO transforma la llegada de una incidencia en un proceso asignado, visible y operable.</a:t>
            </a:r>
          </a:p>
        </p:txBody>
      </p:sp>
      <p:sp>
        <p:nvSpPr>
          <p:cNvPr id="6" name="Oval 5"/>
          <p:cNvSpPr/>
          <p:nvPr/>
        </p:nvSpPr>
        <p:spPr>
          <a:xfrm>
            <a:off x="94183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Correo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Entrada de la incidencia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62072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207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SGIO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Extracción y registro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78231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8231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Asignación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Reglas de disponibilidad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702552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0255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Telegram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Notificación al equipo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62279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Atención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Tomar / reasignar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54303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4303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Resolución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Cierre y trazabilidad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160520"/>
            <a:ext cx="10789920" cy="1188720"/>
          </a:xfrm>
          <a:prstGeom prst="roundRect">
            <a:avLst/>
          </a:prstGeom>
          <a:solidFill>
            <a:srgbClr val="ECF4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4407408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5F96"/>
                </a:solidFill>
                <a:latin typeface="Aptos"/>
              </a:rPr>
              <a:t>Resultado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325112"/>
            <a:ext cx="8869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2744"/>
                </a:solidFill>
                <a:latin typeface="Aptos"/>
              </a:rPr>
              <a:t>Una sola fuente de información para operación, seguimiento y métricas.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VISIBILIDAD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Dashboard operativo centralizado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Estado actual, actividad reciente y filtros de consulta en un único punto.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75895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8dcf5a6-6be0-4d90-b4e2-c58c7292f0f3.png"/>
          <p:cNvPicPr>
            <a:picLocks noChangeAspect="1"/>
          </p:cNvPicPr>
          <p:nvPr/>
        </p:nvPicPr>
        <p:blipFill>
          <a:blip r:embed="rId2"/>
          <a:srcRect t="2166" b="2166"/>
          <a:stretch>
            <a:fillRect/>
          </a:stretch>
        </p:blipFill>
        <p:spPr>
          <a:xfrm>
            <a:off x="749808" y="1755648"/>
            <a:ext cx="7278624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783080"/>
            <a:ext cx="3108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8200" y="17830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68512" y="1892807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510 incidencias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606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Volumen registrado visible en el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788920"/>
            <a:ext cx="3108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58200" y="278892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2898648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Estados operativos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154679"/>
            <a:ext cx="2606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Pendientes, en proceso, resueltas, reabiertas y canceladas.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069080"/>
            <a:ext cx="3108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4069080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4178808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Consulta flexible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434840"/>
            <a:ext cx="2606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Filtros por estado, empleado, prioridad, origen y fechas.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Cada incidencia conserva su contexto y su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detalle reúne información operativa, origen, acciones y seguimiento.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6995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97a1b0f-0724-4545-9e32-b7f475f439e8.png"/>
          <p:cNvPicPr>
            <a:picLocks noChangeAspect="1"/>
          </p:cNvPicPr>
          <p:nvPr/>
        </p:nvPicPr>
        <p:blipFill>
          <a:blip r:embed="rId2"/>
          <a:srcRect l="1845" r="1845"/>
          <a:stretch>
            <a:fillRect/>
          </a:stretch>
        </p:blipFill>
        <p:spPr>
          <a:xfrm>
            <a:off x="749808" y="1737360"/>
            <a:ext cx="6684264" cy="42976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001000" y="17830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79222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691640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Responsable y 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002536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Asignado, prioridad y fecha de registro.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281635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282549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724912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Acciones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03580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Tomar, reasignar o cancelar desde la misma vista.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3849623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385876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758183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Origen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069079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Información del correo y descripción completa.</a:t>
            </a:r>
          </a:p>
        </p:txBody>
      </p:sp>
      <p:sp>
        <p:nvSpPr>
          <p:cNvPr id="20" name="Oval 19"/>
          <p:cNvSpPr/>
          <p:nvPr/>
        </p:nvSpPr>
        <p:spPr>
          <a:xfrm>
            <a:off x="8001000" y="488289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4892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791456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Historial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10235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Trazabilidad del ciclo de atención.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Asignación basada en disponibilidad y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La lógica de asignación utiliza reglas operativas del equipo, no una selección al azar.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532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27648" y="1572768"/>
            <a:ext cx="52578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c9ea9a7-4285-4efe-9c08-b86a7ca09cc0.png"/>
          <p:cNvPicPr>
            <a:picLocks noChangeAspect="1"/>
          </p:cNvPicPr>
          <p:nvPr/>
        </p:nvPicPr>
        <p:blipFill>
          <a:blip r:embed="rId2"/>
          <a:srcRect l="2200" r="2200"/>
          <a:stretch>
            <a:fillRect/>
          </a:stretch>
        </p:blipFill>
        <p:spPr>
          <a:xfrm>
            <a:off x="749808" y="1737360"/>
            <a:ext cx="5221224" cy="4023360"/>
          </a:xfrm>
          <a:prstGeom prst="rect">
            <a:avLst/>
          </a:prstGeom>
        </p:spPr>
      </p:pic>
      <p:pic>
        <p:nvPicPr>
          <p:cNvPr id="9" name="Picture 8" descr="055e30e4-7a10-4e15-a010-a30e0c75b16c.png"/>
          <p:cNvPicPr>
            <a:picLocks noChangeAspect="1"/>
          </p:cNvPicPr>
          <p:nvPr/>
        </p:nvPicPr>
        <p:blipFill>
          <a:blip r:embed="rId3"/>
          <a:srcRect l="7941" r="7941"/>
          <a:stretch>
            <a:fillRect/>
          </a:stretch>
        </p:blipFill>
        <p:spPr>
          <a:xfrm>
            <a:off x="6483096" y="1737360"/>
            <a:ext cx="4946904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5321808"/>
            <a:ext cx="150876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33095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CARGA DEL EQUIPO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321808"/>
            <a:ext cx="16002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5330952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DÍAS LABORALES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321808"/>
            <a:ext cx="123444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533095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AUSENCIAS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5321808"/>
            <a:ext cx="150876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533095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ÚLTIMA ASIGNACIÓN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Reportes para tomar decisiones con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módulo consolida indicadores, comparativos, tendencias, carga y tiempos operativos.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47548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69e9ee8-7000-49f3-81c4-b3d467c0ca3e.png"/>
          <p:cNvPicPr>
            <a:picLocks noChangeAspect="1"/>
          </p:cNvPicPr>
          <p:nvPr/>
        </p:nvPicPr>
        <p:blipFill>
          <a:blip r:embed="rId2"/>
          <a:srcRect l="17423" r="17423"/>
          <a:stretch>
            <a:fillRect/>
          </a:stretch>
        </p:blipFill>
        <p:spPr>
          <a:xfrm>
            <a:off x="749808" y="1737360"/>
            <a:ext cx="4443984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6916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24728" y="1892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3134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incidencias analizadas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26334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Periodo mostrado: agosto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6916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5088" y="1892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Aptos"/>
              </a:rPr>
              <a:t>95.3%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3134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resolución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6334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Indicador del periodo seleccionado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204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4728" y="37216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ptos"/>
              </a:rPr>
              <a:t>22 h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41422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atención promedio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44622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Desde creación hasta toma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5204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05088" y="37216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ptos"/>
              </a:rPr>
              <a:t>1 d 23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422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resolución promedio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4622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Desde creación hasta cierre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5468112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C82"/>
                </a:solidFill>
                <a:latin typeface="Aptos"/>
              </a:rPr>
              <a:t>También incluye: comparación contra periodo anterior • exportación a Excel • desempeño por empleado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Tendencias, carga y atención requerida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Reportes V2 permite detectar comportamiento, concentración de carga y casos que requieren atención.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5321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27648" y="1572768"/>
            <a:ext cx="5257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3822191"/>
            <a:ext cx="55321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27648" y="3822191"/>
            <a:ext cx="5257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e6e9133-fe75-4029-8de6-0714f2e7d999.png"/>
          <p:cNvPicPr>
            <a:picLocks noChangeAspect="1"/>
          </p:cNvPicPr>
          <p:nvPr/>
        </p:nvPicPr>
        <p:blipFill>
          <a:blip r:embed="rId2"/>
          <a:srcRect t="25261" b="25261"/>
          <a:stretch>
            <a:fillRect/>
          </a:stretch>
        </p:blipFill>
        <p:spPr>
          <a:xfrm>
            <a:off x="749808" y="1728216"/>
            <a:ext cx="5221224" cy="1746504"/>
          </a:xfrm>
          <a:prstGeom prst="rect">
            <a:avLst/>
          </a:prstGeom>
        </p:spPr>
      </p:pic>
      <p:pic>
        <p:nvPicPr>
          <p:cNvPr id="11" name="Picture 10" descr="763098f5-7459-4ab9-a5a2-05c86177fe01.png"/>
          <p:cNvPicPr>
            <a:picLocks noChangeAspect="1"/>
          </p:cNvPicPr>
          <p:nvPr/>
        </p:nvPicPr>
        <p:blipFill>
          <a:blip r:embed="rId3"/>
          <a:srcRect t="27268" b="27268"/>
          <a:stretch>
            <a:fillRect/>
          </a:stretch>
        </p:blipFill>
        <p:spPr>
          <a:xfrm>
            <a:off x="749808" y="3977639"/>
            <a:ext cx="5221224" cy="1746504"/>
          </a:xfrm>
          <a:prstGeom prst="rect">
            <a:avLst/>
          </a:prstGeom>
        </p:spPr>
      </p:pic>
      <p:pic>
        <p:nvPicPr>
          <p:cNvPr id="12" name="Picture 11" descr="f77585fa-5d51-4f5e-9f71-526d5e7f2768.png"/>
          <p:cNvPicPr>
            <a:picLocks noChangeAspect="1"/>
          </p:cNvPicPr>
          <p:nvPr/>
        </p:nvPicPr>
        <p:blipFill>
          <a:blip r:embed="rId4"/>
          <a:srcRect t="24853" b="24853"/>
          <a:stretch>
            <a:fillRect/>
          </a:stretch>
        </p:blipFill>
        <p:spPr>
          <a:xfrm>
            <a:off x="6483096" y="3977639"/>
            <a:ext cx="4946904" cy="1746504"/>
          </a:xfrm>
          <a:prstGeom prst="rect">
            <a:avLst/>
          </a:prstGeom>
        </p:spPr>
      </p:pic>
      <p:pic>
        <p:nvPicPr>
          <p:cNvPr id="13" name="Picture 12" descr="1e6e9133-fe75-4029-8de6-0714f2e7d999.png"/>
          <p:cNvPicPr>
            <a:picLocks noChangeAspect="1"/>
          </p:cNvPicPr>
          <p:nvPr/>
        </p:nvPicPr>
        <p:blipFill>
          <a:blip r:embed="rId2"/>
          <a:srcRect t="23889" b="23889"/>
          <a:stretch>
            <a:fillRect/>
          </a:stretch>
        </p:blipFill>
        <p:spPr>
          <a:xfrm>
            <a:off x="6483096" y="1728216"/>
            <a:ext cx="4946904" cy="1746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Telegram como interfaz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bot notifica nuevas incidencias y permite ejecutar acciones de seguimiento sin perder sincronización con SGIO.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6583680" cy="4526280"/>
          </a:xfrm>
          <a:prstGeom prst="roundRect">
            <a:avLst/>
          </a:prstGeom>
          <a:solidFill>
            <a:srgbClr val="1F2429"/>
          </a:solidFill>
          <a:ln w="10160"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fa2aa3-ece3-4752-b63f-f693fb95976c.png"/>
          <p:cNvPicPr>
            <a:picLocks noChangeAspect="1"/>
          </p:cNvPicPr>
          <p:nvPr/>
        </p:nvPicPr>
        <p:blipFill>
          <a:blip r:embed="rId2"/>
          <a:srcRect t="8570" b="8570"/>
          <a:stretch>
            <a:fillRect/>
          </a:stretch>
        </p:blipFill>
        <p:spPr>
          <a:xfrm>
            <a:off x="749808" y="1728216"/>
            <a:ext cx="6272784" cy="4215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572768"/>
            <a:ext cx="4114800" cy="2148840"/>
          </a:xfrm>
          <a:prstGeom prst="roundRect">
            <a:avLst/>
          </a:prstGeom>
          <a:solidFill>
            <a:srgbClr val="1F2429"/>
          </a:solidFill>
          <a:ln w="10160"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adcd8d1-6324-4858-9dae-6610c84b4dcf.png"/>
          <p:cNvPicPr>
            <a:picLocks noChangeAspect="1"/>
          </p:cNvPicPr>
          <p:nvPr/>
        </p:nvPicPr>
        <p:blipFill>
          <a:blip r:embed="rId3"/>
          <a:srcRect t="24138" b="24138"/>
          <a:stretch>
            <a:fillRect/>
          </a:stretch>
        </p:blipFill>
        <p:spPr>
          <a:xfrm>
            <a:off x="7607808" y="1728216"/>
            <a:ext cx="3803904" cy="18379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4160520"/>
            <a:ext cx="914400" cy="32918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NUEVA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5632" y="4160520"/>
            <a:ext cx="91440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TOMAR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4160520"/>
            <a:ext cx="91440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73184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 PROCESO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0736" y="4160520"/>
            <a:ext cx="9144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60736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7091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273B"/>
                </a:solidFill>
                <a:latin typeface="Aptos"/>
              </a:rPr>
              <a:t>Comandos operativos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047488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C82"/>
                </a:solidFill>
                <a:latin typeface="Aptos"/>
              </a:rPr>
              <a:t>/tomar  •  /resuelto  •  /reasignar  •  /cancelar
/estado  •  /mis_pendientes  •  /ranking  •  /atrasadas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IA como acelerador del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La IA se utilizó como herramienta de apoyo; las decisiones, validación y responsabilidad técnica permanecieron en el desarrollador.</a:t>
            </a:r>
          </a:p>
        </p:txBody>
      </p:sp>
      <p:sp>
        <p:nvSpPr>
          <p:cNvPr id="6" name="Oval 5"/>
          <p:cNvSpPr/>
          <p:nvPr/>
        </p:nvSpPr>
        <p:spPr>
          <a:xfrm>
            <a:off x="1216152" y="1755648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6152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Necesidad
del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483864" y="1755648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83864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Criterio del
desarrollador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751576" y="17556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1576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Apoyo
de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8019288" y="175564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Pruebas y
validación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1755648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87000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Implementación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29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3538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Menor tiempo de desarrollo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22191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Acelera exploración de alternativas, estructuras iniciales y resolución de bloqueos.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29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7" y="3538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Código más limpio y mantenible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3822191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Apoyo en refactorización, separación de responsabilidades y consistencia.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72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4681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Depuración más rápida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965192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Análisis de errores, logs y propuestas de solución para validar.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572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4681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Desarrollo incremental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965192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Implementar → probar → corregir → continuar con ciclos más cortos.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870448"/>
            <a:ext cx="10835640" cy="438912"/>
          </a:xfrm>
          <a:prstGeom prst="roundRect">
            <a:avLst/>
          </a:prstGeom>
          <a:solidFill>
            <a:srgbClr val="ECF4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934456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02744"/>
                </a:solidFill>
                <a:latin typeface="Aptos"/>
              </a:rPr>
              <a:t>IA = acelerador técnico, no sustituto del conocimiento ni de la validación del desarrollador.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Una base lista para seguir evolucionando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SGIO ya integra automatización, operación y medición; los siguientes pasos fortalecen seguridad e inteligencia.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0749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Arquitectura actual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2295144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0428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8600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Backend y reglas de negocio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935224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260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Persistencia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3575303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58444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6616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Thymeleaf + 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Interfaz web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215383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22452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0624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Python + Telegram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20624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Operación y notificaciones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4855464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86460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8463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Correo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84632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Origen automatizado de incidencias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572768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181051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Roadmap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286000"/>
            <a:ext cx="1078992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8" y="2295144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276856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Reportes 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2944368"/>
            <a:ext cx="1078992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2953511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935224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Tema claro / oscuro / sistema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8" y="3602736"/>
            <a:ext cx="1078992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3611879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SIGUIENTE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3593592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Seguridad, usuarios y roles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4261104"/>
            <a:ext cx="1078992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4270248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EVOLUCIÓN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4251960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Capacidades con 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4919472"/>
            <a:ext cx="1078992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4928616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OPCIONAL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4910328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Respuesta automática de cierre /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557784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02744"/>
                </a:solidFill>
                <a:latin typeface="Aptos"/>
              </a:rPr>
              <a:t>SGIO convierte un flujo operativo disperso en un proceso automatizado, trazable y medible.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¿Cómo utilicé la IA durante el desarrollo?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6787"/>
            <a:ext cx="10972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5B6C82"/>
                </a:solidFill>
                <a:latin typeface="Aptos"/>
              </a:rPr>
              <a:t>ChatGPT</a:t>
            </a:r>
            <a:r>
              <a:rPr lang="es-MX" sz="1100" b="0" dirty="0">
                <a:solidFill>
                  <a:srgbClr val="5B6C82"/>
                </a:solidFill>
                <a:latin typeface="Aptos"/>
              </a:rPr>
              <a:t>-Codex</a:t>
            </a:r>
            <a:r>
              <a:rPr sz="1100" b="0" dirty="0">
                <a:solidFill>
                  <a:srgbClr val="5B6C82"/>
                </a:solidFill>
                <a:latin typeface="Aptos"/>
              </a:rPr>
              <a:t> se </a:t>
            </a:r>
            <a:r>
              <a:rPr sz="1100" b="0" dirty="0" err="1">
                <a:solidFill>
                  <a:srgbClr val="5B6C82"/>
                </a:solidFill>
                <a:latin typeface="Aptos"/>
              </a:rPr>
              <a:t>utilizó</a:t>
            </a:r>
            <a:r>
              <a:rPr sz="1100" b="0" dirty="0">
                <a:solidFill>
                  <a:srgbClr val="5B6C82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C82"/>
                </a:solidFill>
                <a:latin typeface="Aptos"/>
              </a:rPr>
              <a:t>como</a:t>
            </a:r>
            <a:r>
              <a:rPr sz="1100" b="0" dirty="0">
                <a:solidFill>
                  <a:srgbClr val="5B6C82"/>
                </a:solidFill>
                <a:latin typeface="Aptos"/>
              </a:rPr>
              <a:t> asistente </a:t>
            </a:r>
            <a:r>
              <a:rPr sz="1100" b="0" dirty="0" err="1">
                <a:solidFill>
                  <a:srgbClr val="5B6C82"/>
                </a:solidFill>
                <a:latin typeface="Aptos"/>
              </a:rPr>
              <a:t>técnico</a:t>
            </a:r>
            <a:r>
              <a:rPr sz="1100" b="0" dirty="0">
                <a:solidFill>
                  <a:srgbClr val="5B6C82"/>
                </a:solidFill>
                <a:latin typeface="Aptos"/>
              </a:rPr>
              <a:t> a lo largo del </a:t>
            </a:r>
            <a:r>
              <a:rPr sz="1100" b="0" dirty="0" err="1">
                <a:solidFill>
                  <a:srgbClr val="5B6C82"/>
                </a:solidFill>
                <a:latin typeface="Aptos"/>
              </a:rPr>
              <a:t>ciclo</a:t>
            </a:r>
            <a:r>
              <a:rPr sz="1100" b="0" dirty="0">
                <a:solidFill>
                  <a:srgbClr val="5B6C82"/>
                </a:solidFill>
                <a:latin typeface="Aptos"/>
              </a:rPr>
              <a:t> de </a:t>
            </a:r>
            <a:r>
              <a:rPr sz="1100" b="0" dirty="0" err="1">
                <a:solidFill>
                  <a:srgbClr val="5B6C82"/>
                </a:solidFill>
                <a:latin typeface="Aptos"/>
              </a:rPr>
              <a:t>desarrollo</a:t>
            </a:r>
            <a:r>
              <a:rPr sz="1100" b="0" dirty="0">
                <a:solidFill>
                  <a:srgbClr val="5B6C82"/>
                </a:solidFill>
                <a:latin typeface="Aptos"/>
              </a:rPr>
              <a:t> de SGIO.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31546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5256" y="199339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00253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1938528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"/>
              </a:rPr>
              <a:t>ASISTENTE UTILIZADO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671607"/>
            <a:ext cx="2697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9273B"/>
                </a:solidFill>
                <a:latin typeface="Aptos"/>
              </a:rPr>
              <a:t>ChatGPT</a:t>
            </a:r>
            <a:r>
              <a:rPr lang="es-MX" sz="1400" b="1" dirty="0">
                <a:solidFill>
                  <a:srgbClr val="19273B"/>
                </a:solidFill>
                <a:latin typeface="Aptos"/>
              </a:rPr>
              <a:t>-Codex</a:t>
            </a:r>
            <a:endParaRPr sz="1400" b="1" dirty="0">
              <a:solidFill>
                <a:srgbClr val="19273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5256" y="301752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Análisis de requerimientos, alternativas, revisión de código y resolución de problemas.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755648"/>
            <a:ext cx="31546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79976" y="199339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9976" y="200253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&lt;&gt;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938528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TECNOLOGÍAS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633472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273B"/>
                </a:solidFill>
                <a:latin typeface="Aptos"/>
              </a:rPr>
              <a:t>Stack de SGIO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301752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Java 21 · Spring Boot · JPA · MySQL · Thymeleaf · JavaScript · Python · Telegram · APIs REST.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755648"/>
            <a:ext cx="31546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54696" y="1993392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54696" y="200253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1938528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Aptos"/>
              </a:rPr>
              <a:t>FORMA DE TRABAJO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4696" y="2633472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273B"/>
                </a:solidFill>
                <a:latin typeface="Aptos"/>
              </a:rPr>
              <a:t>Desarrollo iterativo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4696" y="301752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Necesidad → prompt/contexto → propuesta → revisión → implementación → pruebas → ajustes.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96512"/>
            <a:ext cx="1083564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2793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273B"/>
                </a:solidFill>
                <a:latin typeface="Aptos"/>
              </a:rPr>
              <a:t>¿En qué me apoyó?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690872"/>
            <a:ext cx="105156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70001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ANÁLISIS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56632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requerimientos y reglas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2928" y="4690872"/>
            <a:ext cx="105156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2928" y="470001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CÓDIGO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5056632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implementación y refactor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91456" y="4690872"/>
            <a:ext cx="105156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91456" y="470001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DEPURACIÓN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456" y="5056632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errores y logs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9984" y="4690872"/>
            <a:ext cx="105156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470001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PRUEBAS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5056632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casos y validaciones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68512" y="4690872"/>
            <a:ext cx="1051560" cy="329184"/>
          </a:xfrm>
          <a:prstGeom prst="roundRect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68512" y="470001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5056632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pantallas y mensajes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742432"/>
            <a:ext cx="10835640" cy="475488"/>
          </a:xfrm>
          <a:prstGeom prst="roundRect">
            <a:avLst/>
          </a:prstGeom>
          <a:solidFill>
            <a:srgbClr val="ECF4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797296"/>
            <a:ext cx="10378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02744"/>
                </a:solidFill>
                <a:latin typeface="Aptos"/>
              </a:rPr>
              <a:t>La IA fue un asistente: las decisiones técnicas, reglas de negocio, pruebas y validación final permanecieron bajo responsabilidad del desarrollador.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CASO PRÁCTICO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Ejemplo real: IA aplicada a una regla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Asignación automática de incidencias considerando la disponibilidad real del equipo.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10835640" cy="932688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9728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83663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NECESIDAD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755648"/>
            <a:ext cx="8823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273B"/>
                </a:solidFill>
                <a:latin typeface="Aptos"/>
              </a:rPr>
              <a:t>Asignar automáticamente una incidencia sin enviarla a una persona que no trabaja ese día o que tiene una ausencia registrada.</a:t>
            </a:r>
          </a:p>
        </p:txBody>
      </p:sp>
      <p:sp>
        <p:nvSpPr>
          <p:cNvPr id="10" name="Oval 9"/>
          <p:cNvSpPr/>
          <p:nvPr/>
        </p:nvSpPr>
        <p:spPr>
          <a:xfrm>
            <a:off x="1188719" y="29718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19" y="298094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2102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41063"/>
            <a:ext cx="16276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Reglas y restricciones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31089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456432" y="297180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298094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2102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941063"/>
            <a:ext cx="16276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Alternativas y propuesta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1089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5724144" y="29718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144" y="298094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62102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Desarrollo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941063"/>
            <a:ext cx="16276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Spring Boot + JPA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31089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7991856" y="297180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91856" y="298094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362102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Pruebas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3941063"/>
            <a:ext cx="16276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Jornadas y ausencias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1089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259568" y="297180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59568" y="298094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362102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Resultado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3941063"/>
            <a:ext cx="16276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B6C82"/>
                </a:solidFill>
                <a:latin typeface="Aptos"/>
              </a:rPr>
              <a:t>Asignación controlada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828032"/>
            <a:ext cx="108356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01091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Resultado implementado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4983480"/>
            <a:ext cx="1389888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4992624"/>
            <a:ext cx="13898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983480"/>
            <a:ext cx="138988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07408" y="4992624"/>
            <a:ext cx="13898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DÍA LABORAL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0176" y="4983480"/>
            <a:ext cx="138988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0176" y="4992624"/>
            <a:ext cx="13898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SIN AUSENCIA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52944" y="4983480"/>
            <a:ext cx="1389888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52944" y="4992624"/>
            <a:ext cx="13898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ÚLTIMA ASIGN.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5712" y="4983480"/>
            <a:ext cx="1389888" cy="329184"/>
          </a:xfrm>
          <a:prstGeom prst="roundRect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25712" y="4992624"/>
            <a:ext cx="13898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ROUND-ROBIN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532120"/>
            <a:ext cx="10241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La IA aceleró el análisis y la implementación; el comportamiento se validó mediante pruebas antes de incorporarlo al sistema.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1065</Words>
  <Application>Microsoft Office PowerPoint</Application>
  <PresentationFormat>Panorámica</PresentationFormat>
  <Paragraphs>247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CESAR ELOY CHAVEZ LUNA</cp:lastModifiedBy>
  <cp:revision>2</cp:revision>
  <dcterms:created xsi:type="dcterms:W3CDTF">2013-01-27T09:14:16Z</dcterms:created>
  <dcterms:modified xsi:type="dcterms:W3CDTF">2026-09-09T17:32:58Z</dcterms:modified>
  <cp:category/>
</cp:coreProperties>
</file>